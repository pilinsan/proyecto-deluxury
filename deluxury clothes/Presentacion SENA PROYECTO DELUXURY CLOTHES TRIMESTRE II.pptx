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12192000"/>
  <p:notesSz cx="6858000" cy="9144000"/>
  <p:embeddedFontLst>
    <p:embeddedFont>
      <p:font typeface="Play"/>
      <p:regular r:id="rId19"/>
      <p:bold r:id="rId20"/>
    </p:embeddedFont>
    <p:embeddedFont>
      <p:font typeface="Work Sans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595">
          <p15:clr>
            <a:srgbClr val="A4A3A4"/>
          </p15:clr>
        </p15:guide>
        <p15:guide id="2" pos="3840">
          <p15:clr>
            <a:srgbClr val="A4A3A4"/>
          </p15:clr>
        </p15:guide>
        <p15:guide id="3" orient="horz" pos="187">
          <p15:clr>
            <a:srgbClr val="A4A3A4"/>
          </p15:clr>
        </p15:guide>
      </p15:sldGuideLst>
    </p:ext>
    <p:ext uri="GoogleSlidesCustomDataVersion2">
      <go:slidesCustomData xmlns:go="http://customooxmlschemas.google.com/" r:id="rId25" roundtripDataSignature="AMtx7mjmq6E2dMgZ8wm28j0NeY/RiHoxI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95" orient="horz"/>
        <p:guide pos="3840"/>
        <p:guide pos="187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lay-bold.fntdata"/><Relationship Id="rId22" Type="http://schemas.openxmlformats.org/officeDocument/2006/relationships/font" Target="fonts/WorkSans-bold.fntdata"/><Relationship Id="rId21" Type="http://schemas.openxmlformats.org/officeDocument/2006/relationships/font" Target="fonts/WorkSans-regular.fntdata"/><Relationship Id="rId24" Type="http://schemas.openxmlformats.org/officeDocument/2006/relationships/font" Target="fonts/WorkSans-boldItalic.fntdata"/><Relationship Id="rId23" Type="http://schemas.openxmlformats.org/officeDocument/2006/relationships/font" Target="fonts/WorkSans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Play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b="0" i="0" lang="es-419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3" name="Google Shape;93;p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0" name="Google Shape;10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7" name="Google Shape;107;p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3" name="Google Shape;113;p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3" name="Google Shape;123;p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962aaf7328_0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g3962aaf7328_0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1" name="Google Shape;131;g3962aaf7328_0_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6" name="Google Shape;136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5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2" name="Google Shape;142;p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5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6" name="Google Shape;156;p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5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3" name="Google Shape;163;p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9" name="Google Shape;169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5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5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5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5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5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5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7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7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8" name="Google Shape;28;p5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5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4" name="Google Shape;34;p5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9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59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5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60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60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60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60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60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6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6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6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6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6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6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62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62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6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6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6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6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63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63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6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6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6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6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64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6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6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6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65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65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6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6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6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5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5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5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5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docs.google.com/document/d/17XMkKbCoqGwLAU3lVTdQphNqXHGYh_tZ/edit?usp=sharing&amp;ouid=104575615573091354146&amp;rtpof=true&amp;sd=true" TargetMode="External"/><Relationship Id="rId4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docs.google.com/document/d/15gSXQaTdIPOMB0eZuwr3e-FVRNGOXAb1/edit?usp=sharing&amp;ouid=104575615573091354146&amp;rtpof=true&amp;sd=true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Relationship Id="rId4" Type="http://schemas.openxmlformats.org/officeDocument/2006/relationships/hyperlink" Target="https://docs.google.com/spreadsheets/d/1nMGUFQC-moTwANDC7n7mg1fwb2LRas1w/edit?usp=sharing&amp;ouid=104575615573091354146&amp;rtpof=true&amp;sd=true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/>
        </p:nvSpPr>
        <p:spPr>
          <a:xfrm>
            <a:off x="963672" y="2551837"/>
            <a:ext cx="64536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5400"/>
              <a:buFont typeface="Work Sans"/>
              <a:buNone/>
            </a:pPr>
            <a:r>
              <a:rPr b="1" i="0" lang="es-419" sz="5400" u="none" cap="none" strike="noStrike">
                <a:solidFill>
                  <a:srgbClr val="3F3F3F"/>
                </a:solidFill>
                <a:latin typeface="Work Sans"/>
                <a:ea typeface="Work Sans"/>
                <a:cs typeface="Work Sans"/>
                <a:sym typeface="Work Sans"/>
              </a:rPr>
              <a:t>Deluxury Clothes</a:t>
            </a:r>
            <a:endParaRPr b="1" i="0" sz="5400" u="none" cap="none" strike="noStrike">
              <a:solidFill>
                <a:srgbClr val="3F3F3F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Work Sans"/>
              <a:buNone/>
            </a:pPr>
            <a:r>
              <a:rPr b="1" i="0" lang="es-419" sz="1400" u="none" cap="none" strike="noStrike">
                <a:solidFill>
                  <a:srgbClr val="3F3F3F"/>
                </a:solidFill>
                <a:latin typeface="Work Sans"/>
                <a:ea typeface="Work Sans"/>
                <a:cs typeface="Work Sans"/>
                <a:sym typeface="Work Sans"/>
              </a:rPr>
              <a:t>Brandon Nicolas Colina </a:t>
            </a:r>
            <a:r>
              <a:rPr b="1" lang="es-419">
                <a:solidFill>
                  <a:srgbClr val="3F3F3F"/>
                </a:solidFill>
                <a:latin typeface="Work Sans"/>
                <a:ea typeface="Work Sans"/>
                <a:cs typeface="Work Sans"/>
                <a:sym typeface="Work Sans"/>
              </a:rPr>
              <a:t>Martinez</a:t>
            </a:r>
            <a:r>
              <a:rPr b="1" i="0" lang="es-419" sz="1400" u="none" cap="none" strike="noStrike">
                <a:solidFill>
                  <a:srgbClr val="3F3F3F"/>
                </a:solidFill>
                <a:latin typeface="Work Sans"/>
                <a:ea typeface="Work Sans"/>
                <a:cs typeface="Work Sans"/>
                <a:sym typeface="Work Sans"/>
              </a:rPr>
              <a:t> 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Work Sans"/>
              <a:buNone/>
            </a:pPr>
            <a:r>
              <a:rPr b="1" i="0" lang="es-419" sz="1400" u="none" cap="none" strike="noStrike">
                <a:solidFill>
                  <a:srgbClr val="3F3F3F"/>
                </a:solidFill>
                <a:latin typeface="Work Sans"/>
                <a:ea typeface="Work Sans"/>
                <a:cs typeface="Work Sans"/>
                <a:sym typeface="Work Sans"/>
              </a:rPr>
              <a:t>Miguel Ángel Segura Velásquez</a:t>
            </a:r>
            <a:endParaRPr b="1" i="0" sz="1400" u="none" cap="none" strike="noStrike">
              <a:solidFill>
                <a:srgbClr val="3F3F3F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Work Sans"/>
              <a:buNone/>
            </a:pPr>
            <a:r>
              <a:rPr b="1" i="0" lang="es-419" sz="1400" u="none" cap="none" strike="noStrike">
                <a:solidFill>
                  <a:srgbClr val="3F3F3F"/>
                </a:solidFill>
                <a:latin typeface="Work Sans"/>
                <a:ea typeface="Work Sans"/>
                <a:cs typeface="Work Sans"/>
                <a:sym typeface="Work Sans"/>
              </a:rPr>
              <a:t>Miguel Ángel Galvis Corredor</a:t>
            </a:r>
            <a:endParaRPr b="1" i="0" sz="1400" u="none" cap="none" strike="noStrike">
              <a:solidFill>
                <a:srgbClr val="3F3F3F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s-419" sz="1200" u="none" cap="none" strike="noStrike">
                <a:solidFill>
                  <a:srgbClr val="3F3F3F"/>
                </a:solidFill>
                <a:latin typeface="Work Sans"/>
                <a:ea typeface="Work Sans"/>
                <a:cs typeface="Work Sans"/>
                <a:sym typeface="Work Sans"/>
              </a:rPr>
              <a:t>Jampier Soto Parrado</a:t>
            </a:r>
            <a:endParaRPr b="1" i="0" sz="1200" u="none" cap="none" strike="noStrike">
              <a:solidFill>
                <a:srgbClr val="3F3F3F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pic>
        <p:nvPicPr>
          <p:cNvPr id="89" name="Google Shape;89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148525" y="4891725"/>
            <a:ext cx="1178800" cy="11788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"/>
          <p:cNvSpPr txBox="1"/>
          <p:nvPr/>
        </p:nvSpPr>
        <p:spPr>
          <a:xfrm>
            <a:off x="679825" y="5877550"/>
            <a:ext cx="2384400" cy="3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trimestre </a:t>
            </a:r>
            <a:r>
              <a:rPr lang="es-419" sz="1100">
                <a:latin typeface="Calibri"/>
                <a:ea typeface="Calibri"/>
                <a:cs typeface="Calibri"/>
                <a:sym typeface="Calibri"/>
              </a:rPr>
              <a:t>2</a:t>
            </a:r>
            <a:endParaRPr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6"/>
          <p:cNvSpPr txBox="1"/>
          <p:nvPr/>
        </p:nvSpPr>
        <p:spPr>
          <a:xfrm>
            <a:off x="3360008" y="2183282"/>
            <a:ext cx="5472267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Work Sans"/>
              <a:buNone/>
            </a:pPr>
            <a:r>
              <a:rPr b="1" i="0" lang="es-419" sz="60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Objetivo general</a:t>
            </a:r>
            <a:endParaRPr b="1" i="0" sz="72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cxnSp>
        <p:nvCxnSpPr>
          <p:cNvPr id="96" name="Google Shape;96;p46"/>
          <p:cNvCxnSpPr/>
          <p:nvPr/>
        </p:nvCxnSpPr>
        <p:spPr>
          <a:xfrm>
            <a:off x="3574452" y="4108147"/>
            <a:ext cx="52578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7" name="Google Shape;97;p46"/>
          <p:cNvSpPr/>
          <p:nvPr/>
        </p:nvSpPr>
        <p:spPr>
          <a:xfrm>
            <a:off x="3407975" y="3659055"/>
            <a:ext cx="5424300" cy="3949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s-419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"/>
          <p:cNvSpPr txBox="1"/>
          <p:nvPr/>
        </p:nvSpPr>
        <p:spPr>
          <a:xfrm>
            <a:off x="3089779" y="300079"/>
            <a:ext cx="6282821" cy="19389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419" sz="60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Objetivo general</a:t>
            </a:r>
            <a:endParaRPr b="1" i="0" sz="7200" u="none" cap="none" strike="noStrike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cxnSp>
        <p:nvCxnSpPr>
          <p:cNvPr id="103" name="Google Shape;103;p2"/>
          <p:cNvCxnSpPr/>
          <p:nvPr/>
        </p:nvCxnSpPr>
        <p:spPr>
          <a:xfrm flipH="1" rot="10800000">
            <a:off x="3529508" y="2239031"/>
            <a:ext cx="5678839" cy="22314"/>
          </a:xfrm>
          <a:prstGeom prst="straightConnector1">
            <a:avLst/>
          </a:prstGeom>
          <a:noFill/>
          <a:ln cap="flat" cmpd="sng" w="12700">
            <a:solidFill>
              <a:srgbClr val="38AA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4" name="Google Shape;104;p2"/>
          <p:cNvSpPr txBox="1"/>
          <p:nvPr/>
        </p:nvSpPr>
        <p:spPr>
          <a:xfrm>
            <a:off x="3047238" y="2773981"/>
            <a:ext cx="5831700" cy="22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-419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Diseñar e implementar una plataforma web y móvil para De</a:t>
            </a:r>
            <a:r>
              <a:rPr lang="es-419" sz="1800">
                <a:solidFill>
                  <a:schemeClr val="dk1"/>
                </a:solidFill>
              </a:rPr>
              <a:t>l</a:t>
            </a:r>
            <a:r>
              <a:rPr b="0" i="0" lang="es-419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uxury Clothes que optimice la gestión de inventario, ventas, productos y PQRS, mediante la digitalización del catálogo, la administración de compras y pagos, y la automatización de procesos, con el fin de mejorar la visibilidad de la marca y brindar una experiencia de usuario eficiente y segura.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7"/>
          <p:cNvSpPr txBox="1"/>
          <p:nvPr/>
        </p:nvSpPr>
        <p:spPr>
          <a:xfrm>
            <a:off x="3360008" y="2183282"/>
            <a:ext cx="54723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Work Sans"/>
              <a:buNone/>
            </a:pPr>
            <a:r>
              <a:rPr b="1" i="0" lang="es-419" sz="60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Objetivo </a:t>
            </a:r>
            <a:r>
              <a:rPr b="1" lang="es-419" sz="60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Específico</a:t>
            </a:r>
            <a:endParaRPr b="1" i="0" sz="72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cxnSp>
        <p:nvCxnSpPr>
          <p:cNvPr id="110" name="Google Shape;110;p47"/>
          <p:cNvCxnSpPr/>
          <p:nvPr/>
        </p:nvCxnSpPr>
        <p:spPr>
          <a:xfrm>
            <a:off x="3574452" y="4108147"/>
            <a:ext cx="52578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8"/>
          <p:cNvSpPr txBox="1"/>
          <p:nvPr/>
        </p:nvSpPr>
        <p:spPr>
          <a:xfrm>
            <a:off x="3089779" y="4"/>
            <a:ext cx="62829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419" sz="60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Objetivo </a:t>
            </a:r>
            <a:r>
              <a:rPr b="1" lang="es-419" sz="60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Específico</a:t>
            </a:r>
            <a:endParaRPr b="1" i="0" sz="7200" u="none" cap="none" strike="noStrike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cxnSp>
        <p:nvCxnSpPr>
          <p:cNvPr id="116" name="Google Shape;116;p48"/>
          <p:cNvCxnSpPr/>
          <p:nvPr/>
        </p:nvCxnSpPr>
        <p:spPr>
          <a:xfrm flipH="1" rot="10800000">
            <a:off x="3529508" y="1939070"/>
            <a:ext cx="5678700" cy="22200"/>
          </a:xfrm>
          <a:prstGeom prst="straightConnector1">
            <a:avLst/>
          </a:prstGeom>
          <a:noFill/>
          <a:ln cap="flat" cmpd="sng" w="12700">
            <a:solidFill>
              <a:srgbClr val="38AA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7" name="Google Shape;117;p48"/>
          <p:cNvSpPr txBox="1"/>
          <p:nvPr/>
        </p:nvSpPr>
        <p:spPr>
          <a:xfrm>
            <a:off x="972450" y="1939500"/>
            <a:ext cx="102471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>
                <a:solidFill>
                  <a:schemeClr val="dk1"/>
                </a:solidFill>
              </a:rPr>
              <a:t>° Desarrollar el módulo de inventario de la plataforma web y móvil para Deluxury Clothes, permitiendo el registro, control y seguimiento de las entradas, salidas y disponibilidad de productos.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48"/>
          <p:cNvSpPr txBox="1"/>
          <p:nvPr/>
        </p:nvSpPr>
        <p:spPr>
          <a:xfrm>
            <a:off x="972450" y="2955300"/>
            <a:ext cx="102471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/>
              <a:t>° </a:t>
            </a:r>
            <a:r>
              <a:rPr lang="es-419" sz="2000"/>
              <a:t>Implementar el módulo de ventas y pagos dentro de la plataforma, optimizando el proceso de compra mediante herramientas digitales que brinden rapidez, seguridad y facilidad de uso.</a:t>
            </a:r>
            <a:endParaRPr sz="2000"/>
          </a:p>
        </p:txBody>
      </p:sp>
      <p:sp>
        <p:nvSpPr>
          <p:cNvPr id="119" name="Google Shape;119;p48"/>
          <p:cNvSpPr txBox="1"/>
          <p:nvPr/>
        </p:nvSpPr>
        <p:spPr>
          <a:xfrm>
            <a:off x="972450" y="3980150"/>
            <a:ext cx="102471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/>
              <a:t>° </a:t>
            </a:r>
            <a:r>
              <a:rPr lang="es-419" sz="2000"/>
              <a:t>Integrar el módulo de productos en el sistema, facilitando la administración, actualización y consulta de la información relacionada con las prendas disponibles en Deluxury Clothes.</a:t>
            </a:r>
            <a:endParaRPr sz="2000"/>
          </a:p>
        </p:txBody>
      </p:sp>
      <p:sp>
        <p:nvSpPr>
          <p:cNvPr id="120" name="Google Shape;120;p48"/>
          <p:cNvSpPr txBox="1"/>
          <p:nvPr/>
        </p:nvSpPr>
        <p:spPr>
          <a:xfrm>
            <a:off x="972450" y="5057525"/>
            <a:ext cx="102471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/>
              <a:t>° </a:t>
            </a:r>
            <a:r>
              <a:rPr lang="es-419" sz="2000"/>
              <a:t>Desarrollar el módulo de PQRS de la plataforma web y móvil, permitiendo registrar, gestionar y dar seguimiento a las solicitudes para mejorar la atención al cliente.</a:t>
            </a:r>
            <a:endParaRPr sz="2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9"/>
          <p:cNvSpPr txBox="1"/>
          <p:nvPr/>
        </p:nvSpPr>
        <p:spPr>
          <a:xfrm>
            <a:off x="2897680" y="2169195"/>
            <a:ext cx="6396640" cy="19389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4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Casos de uso y formato de especificación de casos de uso</a:t>
            </a:r>
            <a:endParaRPr b="1" sz="40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cxnSp>
        <p:nvCxnSpPr>
          <p:cNvPr id="126" name="Google Shape;126;p49"/>
          <p:cNvCxnSpPr/>
          <p:nvPr/>
        </p:nvCxnSpPr>
        <p:spPr>
          <a:xfrm>
            <a:off x="3574452" y="4108147"/>
            <a:ext cx="52578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7" name="Google Shape;127;p49"/>
          <p:cNvSpPr/>
          <p:nvPr/>
        </p:nvSpPr>
        <p:spPr>
          <a:xfrm>
            <a:off x="3407975" y="3659055"/>
            <a:ext cx="5424300" cy="3949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s-419"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g3962aaf7328_0_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6950" y="0"/>
            <a:ext cx="9687251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4"/>
          <p:cNvSpPr txBox="1"/>
          <p:nvPr/>
        </p:nvSpPr>
        <p:spPr>
          <a:xfrm>
            <a:off x="6585225" y="1030325"/>
            <a:ext cx="5297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u="sng">
                <a:solidFill>
                  <a:schemeClr val="hlink"/>
                </a:solidFill>
                <a:hlinkClick r:id="rId3"/>
              </a:rPr>
              <a:t>https://docs.google.com/document/d/17XMkKbCoqGwLAU3lVTdQphNqXHGYh_tZ/edit?usp=sharing&amp;ouid=104575615573091354146&amp;rtpof=true&amp;sd=true</a:t>
            </a:r>
            <a:endParaRPr/>
          </a:p>
        </p:txBody>
      </p:sp>
      <p:pic>
        <p:nvPicPr>
          <p:cNvPr id="139" name="Google Shape;139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8500" y="93675"/>
            <a:ext cx="6386725" cy="66932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0"/>
          <p:cNvSpPr txBox="1"/>
          <p:nvPr/>
        </p:nvSpPr>
        <p:spPr>
          <a:xfrm>
            <a:off x="2648439" y="1909591"/>
            <a:ext cx="6396640" cy="23082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4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Formato de informe de costos y análisis de proveedores </a:t>
            </a:r>
            <a:endParaRPr b="1" sz="115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cxnSp>
        <p:nvCxnSpPr>
          <p:cNvPr id="145" name="Google Shape;145;p50"/>
          <p:cNvCxnSpPr/>
          <p:nvPr/>
        </p:nvCxnSpPr>
        <p:spPr>
          <a:xfrm>
            <a:off x="3217859" y="4217875"/>
            <a:ext cx="52578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6" name="Google Shape;146;p50"/>
          <p:cNvSpPr/>
          <p:nvPr/>
        </p:nvSpPr>
        <p:spPr>
          <a:xfrm>
            <a:off x="3051359" y="4546023"/>
            <a:ext cx="5424300" cy="3949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s-419"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51"/>
          <p:cNvSpPr/>
          <p:nvPr/>
        </p:nvSpPr>
        <p:spPr>
          <a:xfrm>
            <a:off x="0" y="0"/>
            <a:ext cx="12192000" cy="1435608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rgbClr val="20461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51"/>
          <p:cNvSpPr txBox="1"/>
          <p:nvPr>
            <p:ph type="title"/>
          </p:nvPr>
        </p:nvSpPr>
        <p:spPr>
          <a:xfrm>
            <a:off x="499872" y="960120"/>
            <a:ext cx="11378184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rPr b="1" lang="es-419">
                <a:solidFill>
                  <a:schemeClr val="lt1"/>
                </a:solidFill>
              </a:rPr>
              <a:t>FORMATO DE INFORME DE COSTOS Y ANÁLISIS DE PROVEEDORES</a:t>
            </a:r>
            <a:br>
              <a:rPr lang="es-419">
                <a:solidFill>
                  <a:schemeClr val="lt1"/>
                </a:solidFill>
              </a:rPr>
            </a:br>
            <a:br>
              <a:rPr lang="es-419">
                <a:solidFill>
                  <a:schemeClr val="lt1"/>
                </a:solidFill>
              </a:rPr>
            </a:br>
            <a:endParaRPr>
              <a:solidFill>
                <a:schemeClr val="lt1"/>
              </a:solidFill>
            </a:endParaRPr>
          </a:p>
        </p:txBody>
      </p:sp>
      <p:sp>
        <p:nvSpPr>
          <p:cNvPr id="153" name="Google Shape;153;p51"/>
          <p:cNvSpPr txBox="1"/>
          <p:nvPr>
            <p:ph idx="1" type="body"/>
          </p:nvPr>
        </p:nvSpPr>
        <p:spPr>
          <a:xfrm>
            <a:off x="0" y="2633325"/>
            <a:ext cx="11878200" cy="6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s-419" sz="1400" u="sng">
                <a:solidFill>
                  <a:schemeClr val="hlink"/>
                </a:solidFill>
                <a:hlinkClick r:id="rId3"/>
              </a:rPr>
              <a:t>https://docs.google.com/document/d/15gSXQaTdIPOMB0eZuwr3e-FVRNGOXAb1/edit?usp=sharing&amp;ouid=104575615573091354146&amp;rtpof=true&amp;sd=true</a:t>
            </a:r>
            <a:endParaRPr sz="14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52"/>
          <p:cNvSpPr txBox="1"/>
          <p:nvPr/>
        </p:nvSpPr>
        <p:spPr>
          <a:xfrm>
            <a:off x="2648439" y="1909591"/>
            <a:ext cx="6396640" cy="8309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4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Cotizaciones</a:t>
            </a:r>
            <a:endParaRPr b="1" sz="115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cxnSp>
        <p:nvCxnSpPr>
          <p:cNvPr id="159" name="Google Shape;159;p52"/>
          <p:cNvCxnSpPr/>
          <p:nvPr/>
        </p:nvCxnSpPr>
        <p:spPr>
          <a:xfrm>
            <a:off x="3217859" y="2724750"/>
            <a:ext cx="52578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60" name="Google Shape;160;p52"/>
          <p:cNvSpPr/>
          <p:nvPr/>
        </p:nvSpPr>
        <p:spPr>
          <a:xfrm>
            <a:off x="3051359" y="4546023"/>
            <a:ext cx="5424300" cy="3949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s-419"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abla&#10;&#10;El contenido generado por IA puede ser incorrecto." id="165" name="Google Shape;165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3467" y="330962"/>
            <a:ext cx="10905066" cy="4989066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53"/>
          <p:cNvSpPr txBox="1"/>
          <p:nvPr/>
        </p:nvSpPr>
        <p:spPr>
          <a:xfrm>
            <a:off x="391287" y="5747111"/>
            <a:ext cx="1140942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https://docs.google.com/spreadsheets/d/1nMGUFQC-moTwANDC7n7mg1fwb2LRas1w/edit?usp=sharing&amp;ouid=104575615573091354146&amp;rtpof=true&amp;sd=true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2020-10-01T23:51:28Z</dcterms:created>
  <dc:creator>Jorge Enrique Pedraza Sanchez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299739c-ad3d-4908-806e-4d91151a6e13_Enabled">
    <vt:lpwstr>true</vt:lpwstr>
  </property>
  <property fmtid="{D5CDD505-2E9C-101B-9397-08002B2CF9AE}" pid="3" name="MSIP_Label_1299739c-ad3d-4908-806e-4d91151a6e13_Method">
    <vt:lpwstr>Standard</vt:lpwstr>
  </property>
  <property fmtid="{D5CDD505-2E9C-101B-9397-08002B2CF9AE}" pid="4" name="MSIP_Label_1299739c-ad3d-4908-806e-4d91151a6e13_Name">
    <vt:lpwstr>All Employees (Unrestricted)</vt:lpwstr>
  </property>
  <property fmtid="{D5CDD505-2E9C-101B-9397-08002B2CF9AE}" pid="5" name="MSIP_Label_1299739c-ad3d-4908-806e-4d91151a6e13_SiteId">
    <vt:lpwstr>cbc2c381-2f2e-4d93-91d1-506c9316ace7</vt:lpwstr>
  </property>
  <property fmtid="{D5CDD505-2E9C-101B-9397-08002B2CF9AE}" pid="6" name="MSIP_Label_1299739c-ad3d-4908-806e-4d91151a6e13_ContentBits">
    <vt:lpwstr>0</vt:lpwstr>
  </property>
  <property fmtid="{D5CDD505-2E9C-101B-9397-08002B2CF9AE}" pid="7" name="MSIP_Label_1299739c-ad3d-4908-806e-4d91151a6e13_SetDate">
    <vt:lpwstr>2022-08-12T19:17:55Z</vt:lpwstr>
  </property>
  <property fmtid="{D5CDD505-2E9C-101B-9397-08002B2CF9AE}" pid="8" name="MSIP_Label_1299739c-ad3d-4908-806e-4d91151a6e13_ActionId">
    <vt:lpwstr>8c6bc714-34a9-4b82-914e-50b1377a2da4</vt:lpwstr>
  </property>
</Properties>
</file>